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0" r:id="rId7"/>
    <p:sldId id="27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5033" autoAdjust="0"/>
  </p:normalViewPr>
  <p:slideViewPr>
    <p:cSldViewPr>
      <p:cViewPr>
        <p:scale>
          <a:sx n="75" d="100"/>
          <a:sy n="75" d="100"/>
        </p:scale>
        <p:origin x="1128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2233" y="398475"/>
            <a:ext cx="6216904" cy="976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0071" y="1532585"/>
            <a:ext cx="5106670" cy="438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59" y="4648200"/>
            <a:ext cx="3952240" cy="841256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IN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lang="en-IN" sz="20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lang="en-IN"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IN" sz="2000" b="1" spc="-25" dirty="0" err="1">
                <a:solidFill>
                  <a:schemeClr val="tx1"/>
                </a:solidFill>
                <a:latin typeface="Times New Roman"/>
                <a:cs typeface="Times New Roman"/>
              </a:rPr>
              <a:t>Yaswanthika</a:t>
            </a:r>
            <a:r>
              <a:rPr lang="en-IN"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Shree S</a:t>
            </a:r>
            <a:r>
              <a:rPr lang="en-IN" sz="2000" b="1" dirty="0">
                <a:latin typeface="Times New Roman"/>
                <a:cs typeface="Times New Roman"/>
              </a:rPr>
              <a:t>(192565069)</a:t>
            </a:r>
            <a:endParaRPr sz="2000" b="1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817" y="404312"/>
            <a:ext cx="10485942" cy="116241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0" y="2460521"/>
            <a:ext cx="10134600" cy="15125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/>
              <a:t>Case Analysis of Binary Search Algorithm: Best case,       Worst Case And Average Case</a:t>
            </a:r>
            <a:br>
              <a:rPr lang="en-IN" sz="3200" dirty="0"/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197F5C-0121-6345-6B95-FF928A84722C}"/>
              </a:ext>
            </a:extLst>
          </p:cNvPr>
          <p:cNvSpPr txBox="1"/>
          <p:nvPr/>
        </p:nvSpPr>
        <p:spPr>
          <a:xfrm>
            <a:off x="609601" y="4397479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GUIDE: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N.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Poongavanam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5647" y="268603"/>
            <a:ext cx="6216904" cy="976376"/>
          </a:xfrm>
          <a:prstGeom prst="rect">
            <a:avLst/>
          </a:prstGeom>
        </p:spPr>
        <p:txBody>
          <a:bodyPr vert="horz" wrap="square" lIns="0" tIns="26230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chemeClr val="accent4">
                    <a:lumMod val="50000"/>
                  </a:schemeClr>
                </a:solidFill>
              </a:rPr>
              <a:t>INTRODUCTION</a:t>
            </a:r>
            <a:endParaRPr sz="4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4340" y="412523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498" y="412523"/>
            <a:ext cx="698500" cy="88582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3E136DA-F8C1-AD8F-2681-7BCE00829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" y="3287018"/>
            <a:ext cx="998220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A7DA46A-4658-2CF6-6174-5B1165025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32F3A-039D-F22A-C36E-DCD339BF36A4}"/>
              </a:ext>
            </a:extLst>
          </p:cNvPr>
          <p:cNvSpPr txBox="1"/>
          <p:nvPr/>
        </p:nvSpPr>
        <p:spPr>
          <a:xfrm>
            <a:off x="838200" y="1600200"/>
            <a:ext cx="108204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 searching algorithm used to find an element in a sorted array or list.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comparing the target element with the middle element of the array.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target is smaller, the search continues in the left half; if larger, it continues in the right half.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search space is reduced by half in each step, making the algorithm highly efficient.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performs much faster than Linear Search for large datasets due to its logarithmic time complexity.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studies the best, average, and worst-case performance of Binary Search using asymptotic notation.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200" y="0"/>
            <a:ext cx="6216904" cy="1154084"/>
          </a:xfrm>
          <a:prstGeom prst="rect">
            <a:avLst/>
          </a:prstGeom>
        </p:spPr>
        <p:txBody>
          <a:bodyPr vert="horz" wrap="square" lIns="0" tIns="472363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105"/>
              </a:spcBef>
            </a:pPr>
            <a:r>
              <a:rPr lang="en-US" sz="4400" dirty="0">
                <a:solidFill>
                  <a:schemeClr val="accent4">
                    <a:lumMod val="50000"/>
                  </a:schemeClr>
                </a:solidFill>
              </a:rPr>
              <a:t>OBJECTIVE</a:t>
            </a:r>
            <a:endParaRPr sz="44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527239"/>
            <a:ext cx="698500" cy="885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AA916B3-AE5F-A3CF-C873-DF86FA6AB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00107"/>
            <a:ext cx="8893277" cy="385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working of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best, average, and worst-case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(O, Ω, Θ) for complexity analysis.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efficiency of Binary Search under different scenarios.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which case is most relevant in practical applications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140102"/>
            <a:ext cx="8001000" cy="734483"/>
          </a:xfrm>
          <a:prstGeom prst="rect">
            <a:avLst/>
          </a:prstGeom>
        </p:spPr>
        <p:txBody>
          <a:bodyPr vert="horz" wrap="square" lIns="0" tIns="239700" rIns="0" bIns="0" rtlCol="0">
            <a:spAutoFit/>
          </a:bodyPr>
          <a:lstStyle/>
          <a:p>
            <a:pPr marL="1734185" algn="l">
              <a:lnSpc>
                <a:spcPct val="100000"/>
              </a:lnSpc>
              <a:spcBef>
                <a:spcPts val="95"/>
              </a:spcBef>
            </a:pPr>
            <a:r>
              <a:rPr lang="en-IN" sz="3200" spc="-10" dirty="0">
                <a:solidFill>
                  <a:schemeClr val="accent4">
                    <a:lumMod val="50000"/>
                  </a:schemeClr>
                </a:solidFill>
              </a:rPr>
              <a:t>Case Analysis</a:t>
            </a:r>
            <a:endParaRPr sz="3200" spc="-1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970" y="431673"/>
            <a:ext cx="698500" cy="885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7880" y="403097"/>
            <a:ext cx="919162" cy="9144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0A6457C-200C-57B7-5FCF-949A41A7D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442503"/>
            <a:ext cx="184731" cy="73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4D3634D-8686-984D-C936-C3F4EE0EC17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7700" y="1905000"/>
            <a:ext cx="44815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1. Best Case</a:t>
            </a:r>
          </a:p>
          <a:p>
            <a:r>
              <a:rPr lang="en-IN" sz="2000" b="1" dirty="0"/>
              <a:t>Condition:</a:t>
            </a:r>
            <a:r>
              <a:rPr lang="en-IN" sz="2000" dirty="0"/>
              <a:t> The target element is exactly at the middle of the array in the first comparison.</a:t>
            </a:r>
          </a:p>
          <a:p>
            <a:r>
              <a:rPr lang="en-IN" sz="2000" b="1" dirty="0"/>
              <a:t>Example:</a:t>
            </a:r>
            <a:br>
              <a:rPr lang="en-IN" sz="2000" dirty="0"/>
            </a:br>
            <a:r>
              <a:rPr lang="en-IN" sz="2000" dirty="0"/>
              <a:t>Array = [5, 10, 15, </a:t>
            </a:r>
            <a:r>
              <a:rPr lang="en-IN" sz="2000" b="1" dirty="0"/>
              <a:t>20</a:t>
            </a:r>
            <a:r>
              <a:rPr lang="en-IN" sz="2000" dirty="0"/>
              <a:t>, 25, 30, 35]</a:t>
            </a:r>
          </a:p>
          <a:p>
            <a:r>
              <a:rPr lang="en-IN" sz="2000" dirty="0"/>
              <a:t>Target = </a:t>
            </a:r>
            <a:r>
              <a:rPr lang="en-IN" sz="2000" b="1" dirty="0"/>
              <a:t>20</a:t>
            </a:r>
            <a:endParaRPr lang="en-IN" sz="2000" dirty="0"/>
          </a:p>
          <a:p>
            <a:r>
              <a:rPr lang="en-IN" sz="2000" dirty="0"/>
              <a:t>Comparisons = </a:t>
            </a:r>
            <a:r>
              <a:rPr lang="en-IN" sz="2000" b="1" dirty="0"/>
              <a:t>1</a:t>
            </a:r>
            <a:endParaRPr lang="en-IN" sz="2000" dirty="0"/>
          </a:p>
          <a:p>
            <a:r>
              <a:rPr lang="en-IN" sz="2000" b="1" dirty="0"/>
              <a:t>Time Complexity:</a:t>
            </a:r>
            <a:r>
              <a:rPr lang="en-IN" sz="2000" dirty="0"/>
              <a:t> </a:t>
            </a:r>
            <a:r>
              <a:rPr lang="en-IN" sz="2000" b="1" dirty="0"/>
              <a:t>O(1)</a:t>
            </a:r>
            <a:endParaRPr lang="en-IN" sz="2000" dirty="0"/>
          </a:p>
          <a:p>
            <a:br>
              <a:rPr lang="en-IN" sz="2000" dirty="0"/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D1C07-FA11-4B41-27A3-E7CF17F435D8}"/>
              </a:ext>
            </a:extLst>
          </p:cNvPr>
          <p:cNvSpPr txBox="1"/>
          <p:nvPr/>
        </p:nvSpPr>
        <p:spPr>
          <a:xfrm>
            <a:off x="5105400" y="1905000"/>
            <a:ext cx="304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2. Average Case</a:t>
            </a:r>
          </a:p>
          <a:p>
            <a:r>
              <a:rPr lang="en-IN" sz="1800" b="1" dirty="0"/>
              <a:t>Condition:</a:t>
            </a:r>
            <a:r>
              <a:rPr lang="en-IN" sz="1800" dirty="0"/>
              <a:t> The target element is present but not at the middle. Binary Search performs a few divisions before finding it.</a:t>
            </a:r>
          </a:p>
          <a:p>
            <a:r>
              <a:rPr lang="en-IN" sz="1800" b="1" dirty="0"/>
              <a:t>Example:</a:t>
            </a:r>
            <a:br>
              <a:rPr lang="en-IN" sz="1800" dirty="0"/>
            </a:br>
            <a:r>
              <a:rPr lang="en-IN" sz="1800" dirty="0"/>
              <a:t>Target = </a:t>
            </a:r>
            <a:r>
              <a:rPr lang="en-IN" sz="1800" b="1" dirty="0"/>
              <a:t>30</a:t>
            </a:r>
            <a:endParaRPr lang="en-IN" sz="1800" dirty="0"/>
          </a:p>
          <a:p>
            <a:r>
              <a:rPr lang="en-IN" sz="1800" dirty="0"/>
              <a:t>Comparisons ≈ </a:t>
            </a:r>
            <a:r>
              <a:rPr lang="en-IN" sz="1800" b="1" dirty="0" err="1"/>
              <a:t>log₂n</a:t>
            </a:r>
            <a:endParaRPr lang="en-IN" sz="1800" dirty="0"/>
          </a:p>
          <a:p>
            <a:r>
              <a:rPr lang="en-IN" sz="1800" b="1" dirty="0"/>
              <a:t>Time Complexity:</a:t>
            </a:r>
            <a:r>
              <a:rPr lang="en-IN" sz="1800" dirty="0"/>
              <a:t> </a:t>
            </a:r>
            <a:r>
              <a:rPr lang="en-IN" sz="1800" b="1" dirty="0"/>
              <a:t>O(log n)</a:t>
            </a: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603D0-3F89-E8BF-820F-BA28325DD26D}"/>
              </a:ext>
            </a:extLst>
          </p:cNvPr>
          <p:cNvSpPr txBox="1"/>
          <p:nvPr/>
        </p:nvSpPr>
        <p:spPr>
          <a:xfrm>
            <a:off x="8610600" y="1752600"/>
            <a:ext cx="259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3. Worst Case</a:t>
            </a:r>
          </a:p>
          <a:p>
            <a:r>
              <a:rPr lang="en-IN" sz="1800" b="1" dirty="0"/>
              <a:t>Condition:</a:t>
            </a:r>
            <a:r>
              <a:rPr lang="en-IN" sz="1800" dirty="0"/>
              <a:t> The target element is at the last possible position or is </a:t>
            </a:r>
            <a:r>
              <a:rPr lang="en-IN" sz="1800" b="1" dirty="0"/>
              <a:t>not present</a:t>
            </a:r>
            <a:r>
              <a:rPr lang="en-IN" sz="1800" dirty="0"/>
              <a:t> in the array.</a:t>
            </a:r>
          </a:p>
          <a:p>
            <a:r>
              <a:rPr lang="en-IN" sz="1800" b="1" dirty="0"/>
              <a:t>Example:</a:t>
            </a:r>
            <a:br>
              <a:rPr lang="en-IN" sz="1800" dirty="0"/>
            </a:br>
            <a:r>
              <a:rPr lang="en-IN" sz="1800" dirty="0"/>
              <a:t>Target = </a:t>
            </a:r>
            <a:r>
              <a:rPr lang="en-IN" sz="1800" b="1" dirty="0"/>
              <a:t>40</a:t>
            </a:r>
            <a:r>
              <a:rPr lang="en-IN" sz="1800" dirty="0"/>
              <a:t> (not present)</a:t>
            </a:r>
          </a:p>
          <a:p>
            <a:r>
              <a:rPr lang="en-IN" sz="1800" dirty="0"/>
              <a:t>Binary Search keeps dividing the array until no elements remain.</a:t>
            </a:r>
          </a:p>
          <a:p>
            <a:r>
              <a:rPr lang="en-IN" sz="1800" b="1" dirty="0"/>
              <a:t>Time Complexity:</a:t>
            </a:r>
            <a:r>
              <a:rPr lang="en-IN" sz="1800" dirty="0"/>
              <a:t> </a:t>
            </a:r>
            <a:r>
              <a:rPr lang="en-IN" sz="1800" b="1" dirty="0"/>
              <a:t>O(log n)</a:t>
            </a:r>
            <a:endParaRPr lang="en-IN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8169" y="428738"/>
            <a:ext cx="8975852" cy="710194"/>
          </a:xfrm>
          <a:prstGeom prst="rect">
            <a:avLst/>
          </a:prstGeom>
        </p:spPr>
        <p:txBody>
          <a:bodyPr vert="horz" wrap="square" lIns="0" tIns="276606" rIns="0" bIns="0" rtlCol="0">
            <a:spAutoFit/>
          </a:bodyPr>
          <a:lstStyle/>
          <a:p>
            <a:pPr marL="854710">
              <a:lnSpc>
                <a:spcPct val="100000"/>
              </a:lnSpc>
              <a:spcBef>
                <a:spcPts val="95"/>
              </a:spcBef>
            </a:pPr>
            <a:r>
              <a:rPr lang="en-IN" sz="2800" dirty="0">
                <a:solidFill>
                  <a:schemeClr val="accent4">
                    <a:lumMod val="50000"/>
                  </a:schemeClr>
                </a:solidFill>
              </a:rPr>
              <a:t>Comparison (Merge Sort vs Heap Sort)</a:t>
            </a:r>
            <a:endParaRPr sz="2800" spc="-1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2286000"/>
            <a:ext cx="63689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48945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4340" y="512952"/>
            <a:ext cx="919162" cy="914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979" y="608456"/>
            <a:ext cx="698500" cy="8858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7E78472-3000-84AA-377D-10B91B21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368427"/>
            <a:ext cx="184731" cy="77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05BE80-D56A-614B-798A-D4614A002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7946"/>
              </p:ext>
            </p:extLst>
          </p:nvPr>
        </p:nvGraphicFramePr>
        <p:xfrm>
          <a:off x="2667000" y="1746878"/>
          <a:ext cx="6934200" cy="261946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368241814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3827501357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949421902"/>
                    </a:ext>
                  </a:extLst>
                </a:gridCol>
              </a:tblGrid>
              <a:tr h="424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432283"/>
                  </a:ext>
                </a:extLst>
              </a:tr>
              <a:tr h="53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found at first middle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301899"/>
                  </a:ext>
                </a:extLst>
              </a:tr>
              <a:tr h="536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found after several divisions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105566"/>
                  </a:ext>
                </a:extLst>
              </a:tr>
              <a:tr h="766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 is absent or found at the last possible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9606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98B1-51E2-B18F-8D58-E7758AA3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92D31C3-21C0-7E4F-D835-2283AD0B8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4600" y="403097"/>
            <a:ext cx="6216904" cy="857594"/>
          </a:xfrm>
          <a:prstGeom prst="rect">
            <a:avLst/>
          </a:prstGeom>
        </p:spPr>
        <p:txBody>
          <a:bodyPr vert="horz" wrap="square" lIns="0" tIns="239700" rIns="0" bIns="0" rtlCol="0">
            <a:spAutoFit/>
          </a:bodyPr>
          <a:lstStyle/>
          <a:p>
            <a:pPr marL="1734185">
              <a:lnSpc>
                <a:spcPct val="100000"/>
              </a:lnSpc>
              <a:spcBef>
                <a:spcPts val="95"/>
              </a:spcBef>
            </a:pPr>
            <a:r>
              <a:rPr lang="en-US" spc="-10" dirty="0">
                <a:solidFill>
                  <a:schemeClr val="accent4">
                    <a:lumMod val="50000"/>
                  </a:schemeClr>
                </a:solidFill>
              </a:rPr>
              <a:t>CONLUSION</a:t>
            </a:r>
            <a:endParaRPr spc="-1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5EE16C10-2979-1E1B-FDFD-BE940A9068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970" y="431673"/>
            <a:ext cx="698500" cy="88582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793F59EA-5035-74E7-1FE4-2836A43AA1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7880" y="403097"/>
            <a:ext cx="919162" cy="9144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C854AC8-5928-4FA0-9AC1-DB6F5D3B9C4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150919" y="4784928"/>
            <a:ext cx="167412" cy="77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353ED4-08CC-0455-C9A3-E805441D16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600" y="1600200"/>
            <a:ext cx="9829800" cy="4601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an efficient searching algorithm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data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search space by half in every step, making it much faster than Linear Search.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time complexity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and worst cases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Worst-case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important because it guarantees the maximum time required to search for an element.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Binary Search is a reliable and scalable algorithm for searching in large sorted datasets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5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4388-1C30-57CB-4720-B0BF1AB6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72B8B-FD58-3AAB-7925-7765D748A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B75EB-5C51-3D56-74A2-6413D79D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82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</TotalTime>
  <Words>506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Office Theme</vt:lpstr>
      <vt:lpstr> Case Analysis of Binary Search Algorithm: Best case,       Worst Case And Average Case </vt:lpstr>
      <vt:lpstr>INTRODUCTION</vt:lpstr>
      <vt:lpstr>OBJECTIVE</vt:lpstr>
      <vt:lpstr>Case Analysis</vt:lpstr>
      <vt:lpstr>Comparison (Merge Sort vs Heap Sort)</vt:lpstr>
      <vt:lpstr>CONLUSION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R</dc:creator>
  <cp:lastModifiedBy>Yakshini E</cp:lastModifiedBy>
  <cp:revision>72</cp:revision>
  <dcterms:created xsi:type="dcterms:W3CDTF">2025-12-22T16:01:15Z</dcterms:created>
  <dcterms:modified xsi:type="dcterms:W3CDTF">2026-07-25T05:16:33Z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2025-12-22T00:00:00Z</vt:filetime>
  </property>
  <property fmtid="{D5CDD505-2E9C-101B-9397-08002B2CF9AE}" pid="5" name="Producer">
    <vt:lpwstr>Microsoft® PowerPoint® 2021</vt:lpwstr>
  </property>
</Properties>
</file>